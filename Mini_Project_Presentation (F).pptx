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title. Our project is a complete streaming fraud-detection platform, not just a model in a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transaction alone is rarely suspicious. We need the customer history and the last ten minutes of activity, computed while data is still flowing.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objectives, all implemented in the repository. Scope: synthetic stream, local Docker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column: what typical batch/stateless systems do wrong. Right: what we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top to bottom: Kafka, Bronze, Silver with quarantine, window and stateful streams, assembly, Gold, ML scoring, dashboard. Six Spark apps, one container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 single transaction through these seven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technology has a clear role. Versions are from requirements.txt and docker-compose.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Bronze raw and replayable, Silver clean, Gold serving. All Delta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describe the Random Forest alone. The hybrid engine adds rules on top. Thresholds are env-configurable.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KPIs: 26,454 transactions, 2,160 alerts, 8.17% alert rate, 254 critical. Alert rate is flagged share, NOT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alerts are RULE_ML_CONFIRMATION (P about 0.41-0.73); a few ML_HIGH_CONFIDENCE (0.85-0.86); one CRITICAL with rule score 13. This shows the three-path hybrid logic on real pipeline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logs persist, so jobs and stages can be inspected after the run. Short run (2.9 min uptime): evidence of operation, not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Event-to-score latency includes replayed late events and Kafka backlog; it is not Spark trigger latency (about 0.9-1.7 s per trigger in the benchmark).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Repository-reported results on temporal hold-out; consistency checked: 62+33+30+1628=1753. All-legit baseline gets 94.8% accuracy so accuracy alone is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Chosen: 4 partitions (baseline 8). Balanced: +7.76% throughput, +7.30% P95 improvement. Skewed: +15.80% throughput but P95 7.72% worse. Local Docker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test functions in five files counted from source. We have not re-run them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synthetic data, offline metrics, local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Close, then take questions. References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65960"/>
            <a:ext cx="109728" cy="17373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FD6D6"/>
                </a:solidFill>
                <a:latin typeface="Times New Roman"/>
              </a:rPr>
              <a:t>MINI PROJECT PRESENTATION  | 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imes New Roman"/>
              </a:rPr>
              <a:t>Real-Time Financial Fraud Detection Lakehouse Using Distributed Streaming and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6"/>
                </a:solidFill>
                <a:latin typeface="Times New Roman"/>
              </a:rPr>
              <a:t>Apache Kafka  •  PySpark Structured Streaming  •  Delta Lake  •  Spark MLlib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Bhumika Raut – PRN 23070521221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Arpita Mahakalkar – PRN 23070521020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66344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6E6"/>
                </a:solidFill>
                <a:latin typeface="Times New Roman"/>
              </a:rPr>
              <a:t>Symbiosis Institute of Technology, Nagpur</a:t>
            </a:r>
          </a:p>
          <a:p>
            <a:pPr algn="l"/>
            <a:r>
              <a:rPr sz="1400" b="0">
                <a:solidFill>
                  <a:srgbClr val="C9D6E6"/>
                </a:solidFill>
                <a:latin typeface="Times New Roman"/>
              </a:rPr>
              <a:t>Guide: [Project Guide Name]</a:t>
            </a:r>
          </a:p>
          <a:p>
            <a:pPr algn="l"/>
            <a:r>
              <a:rPr sz="1400" b="0">
                <a:solidFill>
                  <a:srgbClr val="C9D6E6"/>
                </a:solidFill>
                <a:latin typeface="Times New Roman"/>
              </a:rPr>
              <a:t>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Fraud is judged in seconds, and only makes sense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Fraud is rare, imbalanced and must be detected in seconds. A single transaction means little without customer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82296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Why context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Same amount: normal for one user, extreme for another. 5 payments in 10 min + new device = suspicious.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276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Why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1168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Needs event-time windows, per-user state, late/duplicate handling and recovery after failure.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FD6D6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Times New Roman"/>
              </a:rPr>
              <a:t>Build a reliable real-time pipeline that ingests transactions, validates and de-duplicates them, derives behavioural features, scores them with ML + rules, and exposes alerts and monitoring — recoverable after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Ingest </a:t>
            </a:r>
            <a:r>
              <a:rPr sz="1600">
                <a:solidFill>
                  <a:srgbClr val="122B4A"/>
                </a:solidFill>
                <a:latin typeface="Times New Roman"/>
              </a:rPr>
              <a:t>synthetic transactions into Kafka, keyed by user_id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Preserve </a:t>
            </a:r>
            <a:r>
              <a:rPr sz="1600">
                <a:solidFill>
                  <a:srgbClr val="122B4A"/>
                </a:solidFill>
                <a:latin typeface="Times New Roman"/>
              </a:rPr>
              <a:t>raw events + Kafka lineage in Bronze Delta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Validate </a:t>
            </a:r>
            <a:r>
              <a:rPr sz="1600">
                <a:solidFill>
                  <a:srgbClr val="122B4A"/>
                </a:solidFill>
                <a:latin typeface="Times New Roman"/>
              </a:rPr>
              <a:t>quarantine bad records; 5-min watermark de-duplication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Compute </a:t>
            </a:r>
            <a:r>
              <a:rPr sz="1600">
                <a:solidFill>
                  <a:srgbClr val="122B4A"/>
                </a:solidFill>
                <a:latin typeface="Times New Roman"/>
              </a:rPr>
              <a:t>10-min sliding windows + per-user state (Welford)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Train </a:t>
            </a:r>
            <a:r>
              <a:rPr sz="1600">
                <a:solidFill>
                  <a:srgbClr val="122B4A"/>
                </a:solidFill>
                <a:latin typeface="Times New Roman"/>
              </a:rPr>
              <a:t>Random Forest: class weights, temporal split, no label leakage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Decide </a:t>
            </a:r>
            <a:r>
              <a:rPr sz="1600">
                <a:solidFill>
                  <a:srgbClr val="122B4A"/>
                </a:solidFill>
                <a:latin typeface="Times New Roman"/>
              </a:rPr>
              <a:t>hybrid ML + rule engine with explainable reasons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Harden </a:t>
            </a:r>
            <a:r>
              <a:rPr sz="1600">
                <a:solidFill>
                  <a:srgbClr val="122B4A"/>
                </a:solidFill>
                <a:latin typeface="Times New Roman"/>
              </a:rPr>
              <a:t>checkpoints, idempotent writes, tests, Docker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Monitor </a:t>
            </a:r>
            <a:r>
              <a:rPr sz="1600">
                <a:solidFill>
                  <a:srgbClr val="122B4A"/>
                </a:solidFill>
                <a:latin typeface="Times New Roman"/>
              </a:rPr>
              <a:t>benchmark + Streamlit dashboard + Spark History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44475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828800"/>
            <a:ext cx="35661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Synthetic transaction stream, medallion lakehouse, stateful features, RF + rules, dashboard, local Docker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749039"/>
            <a:ext cx="393192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3749039"/>
            <a:ext cx="82296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822191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206240"/>
            <a:ext cx="35661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Real bank data, multi-node cluster scaling, security / PII controls, label delay &amp; drift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Existing Approach vs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Times New Roman"/>
              </a:rPr>
              <a:t>TYPICAL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8A"/>
                </a:solidFill>
                <a:latin typeface="Times New Roman"/>
              </a:rPr>
              <a:t>THIS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Batch scoring detects fraud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002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Continuous micro-batch Structured Streaming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Stateless per-transaction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945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Per-user state via applyInPandasWithState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8892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No recent-velocity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78892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8892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10-min windows, 2-min slide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8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Duplicates / late events corrupt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38328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8328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Watermark + transaction-ID de-duplication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39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Bad records lost or crash 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977639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77639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977639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Quarantine table with reasons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720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Label leakage into live 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5720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57200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5720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Labels kept outside Kafka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6636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6636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Opaque black-box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16636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16636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16636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Hybrid score + reasons + severity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760720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76072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Restart = duplicates / data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576072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8A8A"/>
                </a:solidFill>
                <a:latin typeface="Times New Roman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76072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76072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22B4A"/>
                </a:solidFill>
                <a:latin typeface="Times New Roman"/>
              </a:rPr>
              <a:t>Checkpoints + idempotent Delta writes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5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022" y="1143000"/>
            <a:ext cx="72294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End-to-End Transaction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One transaction, seven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6</a:t>
            </a:r>
          </a:p>
        </p:txBody>
      </p:sp>
      <p:sp>
        <p:nvSpPr>
          <p:cNvPr id="7" name="Pentagon 6"/>
          <p:cNvSpPr/>
          <p:nvPr/>
        </p:nvSpPr>
        <p:spPr>
          <a:xfrm>
            <a:off x="411480" y="2011680"/>
            <a:ext cx="1508760" cy="822960"/>
          </a:xfrm>
          <a:prstGeom prst="homePlat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 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Event sent to Kafka, key = user_id</a:t>
            </a:r>
          </a:p>
        </p:txBody>
      </p:sp>
      <p:sp>
        <p:nvSpPr>
          <p:cNvPr id="10" name="Pentagon 9"/>
          <p:cNvSpPr/>
          <p:nvPr/>
        </p:nvSpPr>
        <p:spPr>
          <a:xfrm>
            <a:off x="2057400" y="2011680"/>
            <a:ext cx="1508760" cy="822960"/>
          </a:xfrm>
          <a:prstGeom prst="homePlate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Raw JSON + topic, partition, offset</a:t>
            </a:r>
          </a:p>
        </p:txBody>
      </p:sp>
      <p:sp>
        <p:nvSpPr>
          <p:cNvPr id="13" name="Pentagon 12"/>
          <p:cNvSpPr/>
          <p:nvPr/>
        </p:nvSpPr>
        <p:spPr>
          <a:xfrm>
            <a:off x="3703320" y="2011680"/>
            <a:ext cx="1508760" cy="822960"/>
          </a:xfrm>
          <a:prstGeom prst="homePlat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3 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Validate, de-dup; rejects → quarantine</a:t>
            </a:r>
          </a:p>
        </p:txBody>
      </p:sp>
      <p:sp>
        <p:nvSpPr>
          <p:cNvPr id="16" name="Pentagon 15"/>
          <p:cNvSpPr/>
          <p:nvPr/>
        </p:nvSpPr>
        <p:spPr>
          <a:xfrm>
            <a:off x="5349240" y="2011680"/>
            <a:ext cx="1508760" cy="822960"/>
          </a:xfrm>
          <a:prstGeom prst="homePlate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4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10-min window + user history (read before update)</a:t>
            </a:r>
          </a:p>
        </p:txBody>
      </p:sp>
      <p:sp>
        <p:nvSpPr>
          <p:cNvPr id="19" name="Pentagon 18"/>
          <p:cNvSpPr/>
          <p:nvPr/>
        </p:nvSpPr>
        <p:spPr>
          <a:xfrm>
            <a:off x="6995160" y="2011680"/>
            <a:ext cx="1508760" cy="822960"/>
          </a:xfrm>
          <a:prstGeom prst="homePlat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5 Assemble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Join features, rule score, Gold feature event</a:t>
            </a:r>
          </a:p>
        </p:txBody>
      </p:sp>
      <p:sp>
        <p:nvSpPr>
          <p:cNvPr id="22" name="Pentagon 21"/>
          <p:cNvSpPr/>
          <p:nvPr/>
        </p:nvSpPr>
        <p:spPr>
          <a:xfrm>
            <a:off x="8641080" y="2011680"/>
            <a:ext cx="1508760" cy="822960"/>
          </a:xfrm>
          <a:prstGeom prst="homePlate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6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Random Forest probability + hybrid decision</a:t>
            </a:r>
          </a:p>
        </p:txBody>
      </p:sp>
      <p:sp>
        <p:nvSpPr>
          <p:cNvPr id="25" name="Pentagon 24"/>
          <p:cNvSpPr/>
          <p:nvPr/>
        </p:nvSpPr>
        <p:spPr>
          <a:xfrm>
            <a:off x="10287000" y="2011680"/>
            <a:ext cx="1508760" cy="822960"/>
          </a:xfrm>
          <a:prstGeom prst="homePlat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011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7 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017520"/>
            <a:ext cx="1508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Times New Roman"/>
              </a:rPr>
              <a:t>Scored table, alerts,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22B4A"/>
                </a:solidFill>
                <a:latin typeface="Times New Roman"/>
              </a:rPr>
              <a:t>Event contract: transaction_id • user_id • timestamp • amount • merchant_category • device_id.  Fraud labels never enter Kafka.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Apache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Partitioned, replayable ingestion. Topic "transactions", 6 partitions.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82296" cy="219456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PySpark 3.5.9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82880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Structured Streaming: event time, windows, watermarks,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Delta Lake 3.3.3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82880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ACID tables, streaming sinks, idempotent writes.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82296" cy="219456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Spark MLlib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Random Forest PipelineModel: training + distributed inference.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794760"/>
            <a:ext cx="82296" cy="21945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38679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Docker 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25196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One container per Spark app; restart policies.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94760"/>
            <a:ext cx="82296" cy="219456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8679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251960"/>
            <a:ext cx="32004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Separate lightweight dashboard on Gold snapshots.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Times New Roman"/>
              </a:rPr>
              <a:t>Also: pandas 2.2.3, NumPy 1.26.4, PyArrow 12.0.1, confluent-kafka 2.11.1, pytest 8.3.5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Bronze – Silver – Gold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8</a:t>
            </a:r>
          </a:p>
        </p:txBody>
      </p:sp>
      <p:pic>
        <p:nvPicPr>
          <p:cNvPr id="6" name="Picture 5" descr="fig_medall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" y="1280159"/>
            <a:ext cx="1089660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Quality rules: </a:t>
            </a:r>
            <a:r>
              <a:rPr sz="1400">
                <a:solidFill>
                  <a:srgbClr val="122B4A"/>
                </a:solidFill>
                <a:latin typeface="Times New Roman"/>
              </a:rPr>
              <a:t>malformed JSON, missing IDs/timestamp/device/merchant, bad or &gt;1,000,000 amounts, future timestamps → quarantine.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Gold tables: </a:t>
            </a:r>
            <a:r>
              <a:rPr sz="1400">
                <a:solidFill>
                  <a:srgbClr val="122B4A"/>
                </a:solidFill>
                <a:latin typeface="Times New Roman"/>
              </a:rPr>
              <a:t>partitioned by event_date; feature events are immutable and append-only.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Random Forest &amp; Hybrid Fraud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9</a:t>
            </a:r>
          </a:p>
        </p:txBody>
      </p:sp>
      <p:pic>
        <p:nvPicPr>
          <p:cNvPr id="6" name="Picture 5" descr="fig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2020"/>
            <a:ext cx="6949440" cy="2716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28016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Model: </a:t>
            </a:r>
            <a:r>
              <a:rPr sz="1400">
                <a:solidFill>
                  <a:srgbClr val="122B4A"/>
                </a:solidFill>
                <a:latin typeface="Times New Roman"/>
              </a:rPr>
              <a:t>Spark RF, 200 trees, depth 10, maxBins 64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Pipeline: </a:t>
            </a:r>
            <a:r>
              <a:rPr sz="1400">
                <a:solidFill>
                  <a:srgbClr val="122B4A"/>
                </a:solidFill>
                <a:latin typeface="Times New Roman"/>
              </a:rPr>
              <a:t>imputer, merchant index + one-hot, assembler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Imbalance: </a:t>
            </a:r>
            <a:r>
              <a:rPr sz="1400">
                <a:solidFill>
                  <a:srgbClr val="122B4A"/>
                </a:solidFill>
                <a:latin typeface="Times New Roman"/>
              </a:rPr>
              <a:t>class-weight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8A8A"/>
                </a:solidFill>
                <a:latin typeface="Times New Roman"/>
              </a:rPr>
              <a:t>▪ Validation: </a:t>
            </a:r>
            <a:r>
              <a:rPr sz="1400">
                <a:solidFill>
                  <a:srgbClr val="122B4A"/>
                </a:solidFill>
                <a:latin typeface="Times New Roman"/>
              </a:rPr>
              <a:t>temporal split (80% time quantile)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0E8A8A"/>
                </a:solidFill>
                <a:latin typeface="Times New Roman"/>
              </a:rPr>
              <a:t>▪ Path 1: </a:t>
            </a:r>
            <a:r>
              <a:rPr sz="1500">
                <a:solidFill>
                  <a:srgbClr val="122B4A"/>
                </a:solidFill>
                <a:latin typeface="Times New Roman"/>
              </a:rPr>
              <a:t>P(fraud) ≥ 0.80 → ML_HIGH_CONFIDENCE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E8A8A"/>
                </a:solidFill>
                <a:latin typeface="Times New Roman"/>
              </a:rPr>
              <a:t>▪ Path 2: </a:t>
            </a:r>
            <a:r>
              <a:rPr sz="1500">
                <a:solidFill>
                  <a:srgbClr val="122B4A"/>
                </a:solidFill>
                <a:latin typeface="Times New Roman"/>
              </a:rPr>
              <a:t>rule flag AND P ≥ 0.40 → RULE_ML_CONFIRMATION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E8A8A"/>
                </a:solidFill>
                <a:latin typeface="Times New Roman"/>
              </a:rPr>
              <a:t>▪ Path 3: </a:t>
            </a:r>
            <a:r>
              <a:rPr sz="1500">
                <a:solidFill>
                  <a:srgbClr val="122B4A"/>
                </a:solidFill>
                <a:latin typeface="Times New Roman"/>
              </a:rPr>
              <a:t>rule score ≥ 8 → critical rule escalation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E8A8A"/>
                </a:solidFill>
                <a:latin typeface="Times New Roman"/>
              </a:rPr>
              <a:t>▪ Output: </a:t>
            </a:r>
            <a:r>
              <a:rPr sz="1500">
                <a:solidFill>
                  <a:srgbClr val="122B4A"/>
                </a:solidFill>
                <a:latin typeface="Times New Roman"/>
              </a:rPr>
              <a:t>final flag, severity (LOW–CRITICAL), decision basis, fraud_reasons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Fraud Command Center –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Project's own gallery screenshots (snapshot 2026-09-05)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10</a:t>
            </a:r>
          </a:p>
        </p:txBody>
      </p:sp>
      <p:pic>
        <p:nvPicPr>
          <p:cNvPr id="7" name="Picture 6" descr="dashboard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9126"/>
            <a:ext cx="7315200" cy="34427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46304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26,454 </a:t>
            </a:r>
            <a:r>
              <a:rPr sz="1700">
                <a:solidFill>
                  <a:srgbClr val="122B4A"/>
                </a:solidFill>
                <a:latin typeface="Times New Roman"/>
              </a:rPr>
              <a:t>transactions processed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2,160 </a:t>
            </a:r>
            <a:r>
              <a:rPr sz="1700">
                <a:solidFill>
                  <a:srgbClr val="122B4A"/>
                </a:solidFill>
                <a:latin typeface="Times New Roman"/>
              </a:rPr>
              <a:t>fraud alerts (8.17%)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254 </a:t>
            </a:r>
            <a:r>
              <a:rPr sz="1700">
                <a:solidFill>
                  <a:srgbClr val="122B4A"/>
                </a:solidFill>
                <a:latin typeface="Times New Roman"/>
              </a:rPr>
              <a:t>critical alerts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0.135 </a:t>
            </a:r>
            <a:r>
              <a:rPr sz="1700">
                <a:solidFill>
                  <a:srgbClr val="122B4A"/>
                </a:solidFill>
                <a:latin typeface="Times New Roman"/>
              </a:rPr>
              <a:t>average ML probability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100% </a:t>
            </a:r>
            <a:r>
              <a:rPr sz="1700">
                <a:solidFill>
                  <a:srgbClr val="122B4A"/>
                </a:solidFill>
                <a:latin typeface="Times New Roman"/>
              </a:rPr>
              <a:t>window-feature coverage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1,969 </a:t>
            </a:r>
            <a:r>
              <a:rPr sz="1700">
                <a:solidFill>
                  <a:srgbClr val="122B4A"/>
                </a:solidFill>
                <a:latin typeface="Times New Roman"/>
              </a:rPr>
              <a:t>unique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3949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Times New Roman"/>
              </a:rPr>
              <a:t>Alert rate ≠ precision: includes rule-confirmed &amp; rule-escalated paths on a replayed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Fraud Alert Investigation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Each alert shows the evidence behind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11</a:t>
            </a:r>
          </a:p>
        </p:txBody>
      </p:sp>
      <p:pic>
        <p:nvPicPr>
          <p:cNvPr id="7" name="Picture 6" descr="recent-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3022"/>
            <a:ext cx="11247120" cy="38176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Columns: amount, deviation ratio, 10-min count, new-device flag, rule score, ML probability, severity, decision basis, reasons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Decision basis shows which of the three hybrid paths fired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Spark 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Spark History Server – FraudDetection-LiveFeatureEvents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12</a:t>
            </a:r>
          </a:p>
        </p:txBody>
      </p:sp>
      <p:pic>
        <p:nvPicPr>
          <p:cNvPr id="7" name="Picture 6" descr="spark-history-server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2" y="1325880"/>
            <a:ext cx="104853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Spark Stages &amp; Engineering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Execution detail and serving-health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13</a:t>
            </a:r>
          </a:p>
        </p:txBody>
      </p:sp>
      <p:pic>
        <p:nvPicPr>
          <p:cNvPr id="7" name="Picture 6" descr="spark-history-server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6555"/>
            <a:ext cx="7315200" cy="3044808"/>
          </a:xfrm>
          <a:prstGeom prst="rect">
            <a:avLst/>
          </a:prstGeom>
        </p:spPr>
      </p:pic>
      <p:pic>
        <p:nvPicPr>
          <p:cNvPr id="8" name="Picture 7" descr="engineering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748" y="4937760"/>
            <a:ext cx="5836023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46304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22B4A"/>
                </a:solidFill>
                <a:latin typeface="Times New Roman"/>
              </a:rPr>
              <a:t>▪ 5 completed jobs on Spark 3.5.9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22B4A"/>
                </a:solidFill>
                <a:latin typeface="Times New Roman"/>
              </a:rPr>
              <a:t>▪ StreamingQueryListener logs rows, rate, state memory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22B4A"/>
                </a:solidFill>
                <a:latin typeface="Times New Roman"/>
              </a:rPr>
              <a:t>▪ 100% window-feature coverage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22B4A"/>
                </a:solidFill>
                <a:latin typeface="Times New Roman"/>
              </a:rPr>
              <a:t>▪ Event-to-score latency (312,276 s P95) reflects replay backlog, not real-time latency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14</a:t>
            </a:r>
          </a:p>
        </p:txBody>
      </p:sp>
      <p:pic>
        <p:nvPicPr>
          <p:cNvPr id="6" name="Picture 5" descr="fig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1748"/>
            <a:ext cx="7498079" cy="28629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28016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ROC-AUC </a:t>
            </a:r>
            <a:r>
              <a:rPr sz="1700">
                <a:solidFill>
                  <a:srgbClr val="122B4A"/>
                </a:solidFill>
                <a:latin typeface="Times New Roman"/>
              </a:rPr>
              <a:t>0.9772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PR-AUC </a:t>
            </a:r>
            <a:r>
              <a:rPr sz="1700">
                <a:solidFill>
                  <a:srgbClr val="122B4A"/>
                </a:solidFill>
                <a:latin typeface="Times New Roman"/>
              </a:rPr>
              <a:t>0.7027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Precision </a:t>
            </a:r>
            <a:r>
              <a:rPr sz="1700">
                <a:solidFill>
                  <a:srgbClr val="122B4A"/>
                </a:solidFill>
                <a:latin typeface="Times New Roman"/>
              </a:rPr>
              <a:t>0.6526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Recall </a:t>
            </a:r>
            <a:r>
              <a:rPr sz="1700">
                <a:solidFill>
                  <a:srgbClr val="122B4A"/>
                </a:solidFill>
                <a:latin typeface="Times New Roman"/>
              </a:rPr>
              <a:t>0.6739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E8A8A"/>
                </a:solidFill>
                <a:latin typeface="Times New Roman"/>
              </a:rPr>
              <a:t>▪ F1 / Accuracy </a:t>
            </a:r>
            <a:r>
              <a:rPr sz="1700">
                <a:solidFill>
                  <a:srgbClr val="122B4A"/>
                </a:solidFill>
                <a:latin typeface="Times New Roman"/>
              </a:rPr>
              <a:t>0.6631 / 0.9641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82296" cy="17373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Why accuracy misleads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50292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Fraud ≈ 5.2% of 1,753 test rows. Predicting "all legit" already gives 94.8% accuracy. Use precision, recall, PR-AUC.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480560"/>
            <a:ext cx="82296" cy="1737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5537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50292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Times New Roman"/>
              </a:rPr>
              <a:t>33 false alarms (analyst cost) vs 30 missed frauds (loss). Threshold shifts one into the other. Offline, repository-reported, synthetic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Performance Benchmark – Shuffle Partitions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4 / 8 / 16 / 32 partitions; balanced vs 90% hot-key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Workload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Parts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Rows/s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P95 ms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State MB</a:t>
                      </a:r>
                    </a:p>
                  </a:txBody>
                  <a:tcPr>
                    <a:solidFill>
                      <a:srgbClr val="122B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balanced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5,655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1,066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10.36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4,295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skewed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7,469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893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1.09</a:t>
                      </a:r>
                    </a:p>
                  </a:txBody>
                  <a:tcPr>
                    <a:solidFill>
                      <a:srgbClr val="E4F3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skewed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6,450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skewed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skewed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22B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benchmark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5240"/>
            <a:ext cx="5577840" cy="309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Selected 4 partitions; all configs met the 5 s trigger budget. user_id is NOT salted – salting would split one customer's history.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Local single-machine Docker result, not a cluster benchmark.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Reliability, Testing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82296" cy="15087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07492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Offsets, committed batches and state-store data per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82296" cy="150876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5331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Idempotent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7492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Delta txnAppId + txnVersion (batch ID) – retries do not double-commit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82296" cy="150876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4495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Quarantine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507492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Invalid records kept with reasons, never silently dropped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82296" cy="15087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4495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A"/>
                </a:solidFill>
                <a:latin typeface="Times New Roman"/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507492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Times New Roman"/>
              </a:rPr>
              <a:t>One service per Spark app, restart: unless-stopped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8A"/>
                </a:solidFill>
                <a:latin typeface="Times New Roman"/>
              </a:rPr>
              <a:t>TESTS IN REPOSITORY (7 test functions, 5 files)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Unit: Welford statistics, transaction-quality rules, final fraud decision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Integration: checkpoint recovery (stop → add data → restart), Delta idempotency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Times New Roman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8A"/>
                </a:solidFill>
                <a:latin typeface="Times New Roman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Synthetic data – not proof of real-world accuracy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Offline hold-out of 1,753 rows (92 frauds)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Metrics cover the RF, not the full hybrid engine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Single local Docker benchmark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Uncalibrated probabilities, heuristic thresholds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No label delay / concept drift handling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No security / PII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Test on a public real fraud dataset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Probability calibration, cost-based thresholds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Drift monitoring and scheduled retraining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Graph and merchant-level features; compare with GBTs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Multi-node cluster benchmark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B4A"/>
                </a:solidFill>
                <a:latin typeface="Times New Roman"/>
              </a:rPr>
              <a:t>▪ Authentication, encryption, alert routing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B4A"/>
                </a:solidFill>
                <a:latin typeface="Times New Roman"/>
              </a:rPr>
              <a:t>Conclusion &amp; Key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Times New Roman"/>
              </a:rPr>
              <a:t>Real-Time Financial Fraud Detection Lakehouse  |  SIT Nagpur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Times New Roman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Complete </a:t>
            </a:r>
            <a:r>
              <a:rPr sz="1600">
                <a:solidFill>
                  <a:srgbClr val="122B4A"/>
                </a:solidFill>
                <a:latin typeface="Times New Roman"/>
              </a:rPr>
              <a:t>Kafka → Bronze/Silver/Gold Delta → stateful features → RF + rules → dashboard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Leakage-safe </a:t>
            </a:r>
            <a:r>
              <a:rPr sz="1600">
                <a:solidFill>
                  <a:srgbClr val="122B4A"/>
                </a:solidFill>
                <a:latin typeface="Times New Roman"/>
              </a:rPr>
              <a:t>labels outside Kafka; temporal split; state read before update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Reliable </a:t>
            </a:r>
            <a:r>
              <a:rPr sz="1600">
                <a:solidFill>
                  <a:srgbClr val="122B4A"/>
                </a:solidFill>
                <a:latin typeface="Times New Roman"/>
              </a:rPr>
              <a:t>checkpoints, idempotent writes, quarantine, tests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E8A8A"/>
                </a:solidFill>
                <a:latin typeface="Times New Roman"/>
              </a:rPr>
              <a:t>▪ Measured </a:t>
            </a:r>
            <a:r>
              <a:rPr sz="1600">
                <a:solidFill>
                  <a:srgbClr val="122B4A"/>
                </a:solidFill>
                <a:latin typeface="Times New Roman"/>
              </a:rPr>
              <a:t>ROC-AUC 0.9772, PR-AUC 0.7027; 4-partition choice from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280160"/>
            <a:ext cx="4206240" cy="237744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417320"/>
            <a:ext cx="38404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Times New Roman"/>
              </a:rPr>
              <a:t>Thank you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Times New Roman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8A8A"/>
                </a:solidFill>
                <a:latin typeface="Times New Roman"/>
              </a:rPr>
              <a:t>KEY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Times New Roman"/>
              </a:rPr>
              <a:t>Kreps et al., Kafka (NetDB 2011) • Zaharia et al., Apache Spark (CACM 2016) • Armbrust et al., Structured Streaming (SIGMOD 2018) • Armbrust et al., Delta Lake (VLDB 2020)</a:t>
            </a:r>
          </a:p>
          <a:p>
            <a:pPr algn="l"/>
            <a:r>
              <a:rPr sz="1100" b="0">
                <a:solidFill>
                  <a:srgbClr val="555F6B"/>
                </a:solidFill>
                <a:latin typeface="Times New Roman"/>
              </a:rPr>
              <a:t>Breiman, Random Forests (2001) • Welford (1962) • Dal Pozzolo et al., TNNLS 2018 • Saito &amp; Rehmsmeier, PLOS ONE 2015</a:t>
            </a:r>
          </a:p>
          <a:p>
            <a:pPr algn="l"/>
            <a:r>
              <a:rPr sz="1100" b="0">
                <a:solidFill>
                  <a:srgbClr val="555F6B"/>
                </a:solidFill>
                <a:latin typeface="Times New Roman"/>
              </a:rPr>
              <a:t>Repo: github.com/Imperator8000/real-time-fraud-detection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